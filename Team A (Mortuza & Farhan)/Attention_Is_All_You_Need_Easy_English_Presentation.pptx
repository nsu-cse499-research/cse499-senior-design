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by saying: This presentation explains the famous Transformer paper in simple English. The key message is that attention can replace recurrent and convolutional layers for sequence-to-sequence tasks like translation.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audience a quick plan. Do not spend long here. Say that the deck starts from the basic problem and slowly builds toward the Transformer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paper proposes the Transformer. It is not using RNNs or CNNs as the main sequence model. It uses attention to connect words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RNN issue simply: it reads like a person reading one word after another. That makes it slow because later words wait for earlier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example with “it” and “animal”. Attention helps the model connect related words even when they are far apart.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seq-to-seq: one sequence goes in and another sequence comes out. Translation is the main example used in the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 the diagram has two towers. The left tower understands the input. The right tower generates the output. Each tower repeats similar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encoder as the reading part. It reads the whole input sentence and creates useful vectors. In the encoder, attention is self-attention because Q, K, and V all come from the input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decoder as the writing part. It writes output one token at a time. Masking prevents cheating by hiding future output tokens.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 means query, K means key, V means value. The model compares queries with keys to decide how much of each value to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overcomplicate the formula. Say it in four steps: compare, scale, softmax, combine. The scaling keeps training 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analogy: one person may focus on meaning, another on grammar, another on long-distance links. Multi-head attention lets the model learn several relationships simultaneously.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RNNs naturally know order because they read step by step. Transformer processes tokens in parallel, so it adds positional encoding to represent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simple. Self-attention is powerful because it is parallel, it connects distant tokens quickly, and attention maps can be inspected.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the training section is not the main theory. The key facts are the datasets, GPUs, training time, and regularization methods.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BLEU very simply. Say the Transformer big got 28.4 on English-German and 41.8 on English-French, which was very strong at that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answers if the teacher asks questions. Keep answers short and confident.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confidence. Repeat the one-line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final reference slide. Mention that all content is based on the original paper and figures have proper attribution.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731520"/>
            <a:ext cx="3657600" cy="3657600"/>
          </a:xfrm>
          <a:prstGeom prst="arc">
            <a:avLst/>
          </a:prstGeom>
          <a:solidFill>
            <a:srgbClr val="2563EB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572000"/>
            <a:ext cx="3108960" cy="3108960"/>
          </a:xfrm>
          <a:prstGeom prst="arc">
            <a:avLst/>
          </a:prstGeom>
          <a:solidFill>
            <a:srgbClr val="06B6D4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02412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Attention Is All You Need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AE6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English Presentation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4944" y="22768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the Transformer paper by Vaswani et al. (NIPS 2017)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4944" y="3090672"/>
            <a:ext cx="4937760" cy="640080"/>
          </a:xfrm>
          <a:prstGeom prst="roundRect">
            <a:avLst>
              <a:gd name="adj" fmla="val 12857"/>
            </a:avLst>
          </a:prstGeom>
          <a:solidFill>
            <a:srgbClr val="CFFAFE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163824"/>
            <a:ext cx="482803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idea: use attention, not RNNs or CNNs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4944" y="3886200"/>
            <a:ext cx="4663440" cy="640080"/>
          </a:xfrm>
          <a:prstGeom prst="roundRect">
            <a:avLst>
              <a:gd name="adj" fmla="val 12857"/>
            </a:avLst>
          </a:prstGeom>
          <a:solidFill>
            <a:srgbClr val="DBEAFE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959352"/>
            <a:ext cx="455371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faster training + better translation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29400" y="1051560"/>
            <a:ext cx="42062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1508760"/>
            <a:ext cx="32004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1965960"/>
            <a:ext cx="448056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29718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goal: explain the paper simply enough to present in class.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Is All You Need | Easy Presentation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338560" y="6473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-228600"/>
            <a:ext cx="2011680" cy="2011680"/>
          </a:xfrm>
          <a:prstGeom prst="arc">
            <a:avLst/>
          </a:prstGeom>
          <a:solidFill>
            <a:srgbClr val="CFFAFE">
              <a:alpha val="90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94360" y="5349240"/>
            <a:ext cx="1920240" cy="1920240"/>
          </a:xfrm>
          <a:prstGeom prst="arc">
            <a:avLst/>
          </a:prstGeom>
          <a:solidFill>
            <a:srgbClr val="EDE9FE">
              <a:alpha val="90000"/>
            </a:srgbClr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8813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presentation will cover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Is All You Need | Easy Presentation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0020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1673352"/>
            <a:ext cx="39319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16733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 before Transformer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2441448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CCFBF1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2514600"/>
            <a:ext cx="39319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25146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big idea of attention-only models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14400" y="3282696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355848"/>
            <a:ext cx="39319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33558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Encoder, decoder, and attention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914400" y="4123944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FFEDD5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4197096"/>
            <a:ext cx="39319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0200" y="41970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setup and results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914400" y="4965192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DCFCE7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5038344"/>
            <a:ext cx="39319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00200" y="503834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takeaways and viva points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-228600"/>
            <a:ext cx="2011680" cy="2011680"/>
          </a:xfrm>
          <a:prstGeom prst="arc">
            <a:avLst/>
          </a:prstGeom>
          <a:solidFill>
            <a:srgbClr val="CFFAFE">
              <a:alpha val="90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94360" y="5349240"/>
            <a:ext cx="1920240" cy="1920240"/>
          </a:xfrm>
          <a:prstGeom prst="arc">
            <a:avLst/>
          </a:prstGeom>
          <a:solidFill>
            <a:srgbClr val="EDE9FE">
              <a:alpha val="90000"/>
            </a:srgbClr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8813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 in One Minute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simple summary before going into details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Is All You Need | Easy Presentation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17320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Transformer is a neural network architecture for sequence-to-sequence tasks.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7240" y="1965960"/>
            <a:ext cx="52578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965960"/>
            <a:ext cx="52578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1783080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FFEDD5"/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185166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Transformer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37960" y="1783080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CCFBF1"/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18516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78992" y="2560320"/>
            <a:ext cx="461772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RNNs read tokens one by one.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CNNs use local windows and many layers.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Long-distance relationships are harder to learn.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65392" y="2560320"/>
            <a:ext cx="461772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Uses self-attention as the main operation.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Looks at all tokens directly.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Runs more in parallel, so training is faster.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565099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short: the model learns which words should pay attention to which other words.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-228600"/>
            <a:ext cx="2011680" cy="2011680"/>
          </a:xfrm>
          <a:prstGeom prst="arc">
            <a:avLst/>
          </a:prstGeom>
          <a:solidFill>
            <a:srgbClr val="CFFAFE">
              <a:alpha val="90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94360" y="5349240"/>
            <a:ext cx="1920240" cy="1920240"/>
          </a:xfrm>
          <a:prstGeom prst="arc">
            <a:avLst/>
          </a:prstGeom>
          <a:solidFill>
            <a:srgbClr val="EDE9FE">
              <a:alpha val="90000"/>
            </a:srgbClr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8813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Before Transformer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RNN-based models were slow and limited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Is All You Need | Easy Presentation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17320"/>
            <a:ext cx="52578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41732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1664208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FFEDD5"/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7327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RNN / LSTM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24128" y="2176272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Reads tokens one by one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78992" y="2880360"/>
            <a:ext cx="594360" cy="502920"/>
          </a:xfrm>
          <a:prstGeom prst="roundRect">
            <a:avLst>
              <a:gd name="adj" fmla="val 16364"/>
            </a:avLst>
          </a:prstGeom>
          <a:solidFill>
            <a:srgbClr val="DBEAFE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2953512"/>
            <a:ext cx="48463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783080" y="3136392"/>
            <a:ext cx="73152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606040" y="2880360"/>
            <a:ext cx="777240" cy="502920"/>
          </a:xfrm>
          <a:prstGeom prst="roundRect">
            <a:avLst>
              <a:gd name="adj" fmla="val 16364"/>
            </a:avLst>
          </a:prstGeom>
          <a:solidFill>
            <a:srgbClr val="DBEAFE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60904" y="2953512"/>
            <a:ext cx="66751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love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20440" y="3136392"/>
            <a:ext cx="73152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43400" y="2880360"/>
            <a:ext cx="685800" cy="502920"/>
          </a:xfrm>
          <a:prstGeom prst="roundRect">
            <a:avLst>
              <a:gd name="adj" fmla="val 16364"/>
            </a:avLst>
          </a:prstGeom>
          <a:solidFill>
            <a:srgbClr val="DBEAFE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98264" y="2953512"/>
            <a:ext cx="57607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794760"/>
            <a:ext cx="45262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Hard to parallelize inside one sentence.</a:t>
            </a:r>
            <a:endParaRPr lang="en-US" sz="14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Long sentences create long information paths.</a:t>
            </a:r>
            <a:endParaRPr lang="en-US" sz="14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Training becomes slow for large data.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537960" y="1664208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FEE2E2"/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17327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limitation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29400" y="2176272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Sequential computation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629400" y="2788920"/>
            <a:ext cx="448056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Step 2 depends on step 1.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Step 3 depends on step 2.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GPU cannot fully process all positions at once.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29400" y="48006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solves this by letting every token directly compare with every other token.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-228600"/>
            <a:ext cx="2011680" cy="2011680"/>
          </a:xfrm>
          <a:prstGeom prst="arc">
            <a:avLst/>
          </a:prstGeom>
          <a:solidFill>
            <a:srgbClr val="CFFAFE">
              <a:alpha val="90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94360" y="5349240"/>
            <a:ext cx="1920240" cy="1920240"/>
          </a:xfrm>
          <a:prstGeom prst="arc">
            <a:avLst/>
          </a:prstGeom>
          <a:solidFill>
            <a:srgbClr val="EDE9FE">
              <a:alpha val="90000"/>
            </a:srgbClr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8813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Idea: Attention Only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recurrence. No convolution. Attention becomes the main engine.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Is All You Need | Easy Presentation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371600"/>
            <a:ext cx="107442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73736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Instead of passing memory step-by-step, every token asks: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143000" y="23317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“Which other tokens are important for understanding me?”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1234440" y="3401568"/>
            <a:ext cx="685800" cy="41148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9304" y="3474720"/>
            <a:ext cx="57607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48840" y="3401568"/>
            <a:ext cx="685800" cy="41148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3704" y="3474720"/>
            <a:ext cx="57607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3401568"/>
            <a:ext cx="685800" cy="41148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00984" y="3474720"/>
            <a:ext cx="57607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77640" y="3401568"/>
            <a:ext cx="685800" cy="41148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32504" y="3474720"/>
            <a:ext cx="57607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401568"/>
            <a:ext cx="685800" cy="41148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3474720"/>
            <a:ext cx="57607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15000" y="3401568"/>
            <a:ext cx="685800" cy="41148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9864" y="3474720"/>
            <a:ext cx="57607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3401568"/>
            <a:ext cx="685800" cy="41148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47104" y="3474720"/>
            <a:ext cx="57607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street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52360" y="3401568"/>
            <a:ext cx="932688" cy="41148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07224" y="3474720"/>
            <a:ext cx="82296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641080" y="3401568"/>
            <a:ext cx="685800" cy="411480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95944" y="3474720"/>
            <a:ext cx="57607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235440" y="3401568"/>
            <a:ext cx="685800" cy="41148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90304" y="3474720"/>
            <a:ext cx="57607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966960" y="3401568"/>
            <a:ext cx="685800" cy="41148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21824" y="3474720"/>
            <a:ext cx="57607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tired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88552" y="3364992"/>
            <a:ext cx="-6428232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1234440" y="4160520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can connect “it” to “animal” directly.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234440" y="4572000"/>
            <a:ext cx="96012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Good for long-distance relationships in a sentence.</a:t>
            </a:r>
            <a:endParaRPr lang="en-US" sz="14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Good for parallel processing on GPUs.</a:t>
            </a:r>
            <a:endParaRPr lang="en-US" sz="14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Attention weights can be visualized, so the model is easier to inspect.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-228600"/>
            <a:ext cx="2011680" cy="2011680"/>
          </a:xfrm>
          <a:prstGeom prst="arc">
            <a:avLst/>
          </a:prstGeom>
          <a:solidFill>
            <a:srgbClr val="CFFAFE">
              <a:alpha val="90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94360" y="5349240"/>
            <a:ext cx="1920240" cy="1920240"/>
          </a:xfrm>
          <a:prstGeom prst="arc">
            <a:avLst/>
          </a:prstGeom>
          <a:solidFill>
            <a:srgbClr val="EDE9FE">
              <a:alpha val="90000"/>
            </a:srgbClr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8813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Sequence-to-Sequence Basics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was designed for tasks like machine translation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Is All You Need | Easy Presentation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325880"/>
            <a:ext cx="1097280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874520"/>
            <a:ext cx="1828800" cy="594360"/>
          </a:xfrm>
          <a:prstGeom prst="roundRect">
            <a:avLst>
              <a:gd name="adj" fmla="val 1384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1947672"/>
            <a:ext cx="171907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sentence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971800" y="2167128"/>
            <a:ext cx="960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069080" y="1874520"/>
            <a:ext cx="1463040" cy="594360"/>
          </a:xfrm>
          <a:prstGeom prst="roundRect">
            <a:avLst>
              <a:gd name="adj" fmla="val 13846"/>
            </a:avLst>
          </a:prstGeom>
          <a:solidFill>
            <a:srgbClr val="CCFBF1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23944" y="1947672"/>
            <a:ext cx="135331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87568" y="2167128"/>
            <a:ext cx="10058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12280" y="1874520"/>
            <a:ext cx="1463040" cy="594360"/>
          </a:xfrm>
          <a:prstGeom prst="roundRect">
            <a:avLst>
              <a:gd name="adj" fmla="val 13846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67144" y="1947672"/>
            <a:ext cx="135331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412480" y="2167128"/>
            <a:ext cx="10058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555480" y="1874520"/>
            <a:ext cx="1828800" cy="594360"/>
          </a:xfrm>
          <a:prstGeom prst="roundRect">
            <a:avLst>
              <a:gd name="adj" fmla="val 13846"/>
            </a:avLst>
          </a:prstGeom>
          <a:solidFill>
            <a:srgbClr val="FFEDD5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10344" y="1947672"/>
            <a:ext cx="171907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sentence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29718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337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English: “I love machine learning.”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12280" y="3337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German: “Ich liebe maschinelles Lernen.”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4160520"/>
            <a:ext cx="987552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Encoder understands the input sequence.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Decoder generates the output sequence token by token.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Attention helps the decoder focus on the right input words.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-228600"/>
            <a:ext cx="2011680" cy="2011680"/>
          </a:xfrm>
          <a:prstGeom prst="arc">
            <a:avLst/>
          </a:prstGeom>
          <a:solidFill>
            <a:srgbClr val="CFFAFE">
              <a:alpha val="90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94360" y="5349240"/>
            <a:ext cx="1920240" cy="1920240"/>
          </a:xfrm>
          <a:prstGeom prst="arc">
            <a:avLst/>
          </a:prstGeom>
          <a:solidFill>
            <a:srgbClr val="EDE9FE">
              <a:alpha val="90000"/>
            </a:srgbClr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8813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Transformer Architecture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diagram: encoder on the left, decoder on the right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Is All You Need | Easy Presentation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325880"/>
            <a:ext cx="4251960" cy="48920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/mnt/data/attn_assets/figure1_transformer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417320"/>
            <a:ext cx="3520440" cy="44074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582472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figure: Vaswani et al. (2017)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166360" y="1325880"/>
            <a:ext cx="630936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0" y="1572768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7840" y="164134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read it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532120" y="2103120"/>
            <a:ext cx="5440680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Bottom: tokens become embeddings.</a:t>
            </a:r>
            <a:endParaRPr lang="en-US" sz="14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Positional encoding adds word-order information.</a:t>
            </a:r>
            <a:endParaRPr lang="en-US" sz="14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Encoder and decoder are repeated N = 6 times.</a:t>
            </a:r>
            <a:endParaRPr lang="en-US" sz="14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Self-attention finds relationships between tokens.</a:t>
            </a:r>
            <a:endParaRPr lang="en-US" sz="14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Feed-forward layers transform the information.</a:t>
            </a:r>
            <a:endParaRPr lang="en-US" sz="14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Softmax gives probabilities for the next output token.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532120" y="5413248"/>
            <a:ext cx="5440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mental model: input words go through attention blocks, then the decoder writes the translated sentence.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-228600"/>
            <a:ext cx="2011680" cy="2011680"/>
          </a:xfrm>
          <a:prstGeom prst="arc">
            <a:avLst/>
          </a:prstGeom>
          <a:solidFill>
            <a:srgbClr val="CFFAFE">
              <a:alpha val="90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94360" y="5349240"/>
            <a:ext cx="1920240" cy="1920240"/>
          </a:xfrm>
          <a:prstGeom prst="arc">
            <a:avLst/>
          </a:prstGeom>
          <a:solidFill>
            <a:srgbClr val="EDE9FE">
              <a:alpha val="90000"/>
            </a:srgbClr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8813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Encoder Stack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encoder builds a rich representation of the input sentence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Is All You Need | Easy Presentation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325880"/>
            <a:ext cx="1097280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754880"/>
            <a:ext cx="2103120" cy="6858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4828032"/>
            <a:ext cx="199339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Embedding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Position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1965960" y="4709160"/>
            <a:ext cx="0" cy="-2743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4400" y="3703320"/>
            <a:ext cx="2103120" cy="685800"/>
          </a:xfrm>
          <a:prstGeom prst="roundRect">
            <a:avLst>
              <a:gd name="adj" fmla="val 12000"/>
            </a:avLst>
          </a:prstGeom>
          <a:solidFill>
            <a:srgbClr val="FFEDD5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776472"/>
            <a:ext cx="199339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Multi-Head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Self-Attention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1965960" y="3657600"/>
            <a:ext cx="0" cy="-2743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143000" y="3063240"/>
            <a:ext cx="1645920" cy="411480"/>
          </a:xfrm>
          <a:prstGeom prst="roundRect">
            <a:avLst>
              <a:gd name="adj" fmla="val 20000"/>
            </a:avLst>
          </a:prstGeom>
          <a:solidFill>
            <a:srgbClr val="FEF9C3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97864" y="3136392"/>
            <a:ext cx="153619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&amp; Norm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1965960" y="3017520"/>
            <a:ext cx="0" cy="-2743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4400" y="1965960"/>
            <a:ext cx="2103120" cy="68580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2039112"/>
            <a:ext cx="199339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Forward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1965960" y="1920240"/>
            <a:ext cx="0" cy="-22860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68680" y="1417320"/>
            <a:ext cx="2194560" cy="502920"/>
          </a:xfrm>
          <a:prstGeom prst="roundRect">
            <a:avLst>
              <a:gd name="adj" fmla="val 16364"/>
            </a:avLst>
          </a:prstGeom>
          <a:solidFill>
            <a:srgbClr val="2563E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" y="1490472"/>
            <a:ext cx="208483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Encoded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Representations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3246120" y="1417320"/>
            <a:ext cx="320040" cy="4069080"/>
          </a:xfrm>
          <a:prstGeom prst="bracePair">
            <a:avLst/>
          </a:prstGeom>
          <a:noFill/>
          <a:ln w="15240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84448" y="318211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6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0" y="1600200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CCFBF1"/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166878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each part does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32120" y="2148840"/>
            <a:ext cx="521208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Self-attention: each input token looks at all input tokens.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Feed-forward network: processes each token representation separately.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&amp; Norm: stabilizes training and keeps useful previous information.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Output: one vector for every input token.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-228600"/>
            <a:ext cx="2011680" cy="2011680"/>
          </a:xfrm>
          <a:prstGeom prst="arc">
            <a:avLst/>
          </a:prstGeom>
          <a:solidFill>
            <a:srgbClr val="CFFAFE">
              <a:alpha val="90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94360" y="5349240"/>
            <a:ext cx="1920240" cy="1920240"/>
          </a:xfrm>
          <a:prstGeom prst="arc">
            <a:avLst/>
          </a:prstGeom>
          <a:solidFill>
            <a:srgbClr val="EDE9FE">
              <a:alpha val="90000"/>
            </a:srgbClr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8813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Decoder Stack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decoder generates the output sentence step by step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Is All You Need | Easy Presentation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325880"/>
            <a:ext cx="1097280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4800600"/>
            <a:ext cx="2057400" cy="566928"/>
          </a:xfrm>
          <a:prstGeom prst="roundRect">
            <a:avLst>
              <a:gd name="adj" fmla="val 14516"/>
            </a:avLst>
          </a:prstGeom>
          <a:solidFill>
            <a:srgbClr val="DBEAFE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4873752"/>
            <a:ext cx="194767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38528" y="4754880"/>
            <a:ext cx="0" cy="-32004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96112" y="3794760"/>
            <a:ext cx="2057400" cy="566928"/>
          </a:xfrm>
          <a:prstGeom prst="roundRect">
            <a:avLst>
              <a:gd name="adj" fmla="val 14516"/>
            </a:avLst>
          </a:prstGeom>
          <a:solidFill>
            <a:srgbClr val="FFEDD5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867912"/>
            <a:ext cx="194767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Self-Attention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38528" y="3749040"/>
            <a:ext cx="0" cy="-32004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6112" y="2788920"/>
            <a:ext cx="2057400" cy="566928"/>
          </a:xfrm>
          <a:prstGeom prst="roundRect">
            <a:avLst>
              <a:gd name="adj" fmla="val 14516"/>
            </a:avLst>
          </a:prstGeom>
          <a:solidFill>
            <a:srgbClr val="EDE9FE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2862072"/>
            <a:ext cx="194767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Encoder-Decoder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63240" y="3072384"/>
            <a:ext cx="10058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206240" y="2816352"/>
            <a:ext cx="1874520" cy="512064"/>
          </a:xfrm>
          <a:prstGeom prst="roundRect">
            <a:avLst>
              <a:gd name="adj" fmla="val 16071"/>
            </a:avLst>
          </a:prstGeom>
          <a:solidFill>
            <a:srgbClr val="CCFBF1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61104" y="2889504"/>
            <a:ext cx="17647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Encoder Output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938528" y="2743200"/>
            <a:ext cx="0" cy="-32004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96112" y="1828800"/>
            <a:ext cx="2057400" cy="566928"/>
          </a:xfrm>
          <a:prstGeom prst="roundRect">
            <a:avLst>
              <a:gd name="adj" fmla="val 14516"/>
            </a:avLst>
          </a:prstGeom>
          <a:solidFill>
            <a:srgbClr val="CCFBF1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1901952"/>
            <a:ext cx="194767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Forward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938528" y="1783080"/>
            <a:ext cx="0" cy="-210312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96112" y="1325880"/>
            <a:ext cx="2057400" cy="475488"/>
          </a:xfrm>
          <a:prstGeom prst="roundRect">
            <a:avLst>
              <a:gd name="adj" fmla="val 17308"/>
            </a:avLst>
          </a:prstGeom>
          <a:solidFill>
            <a:srgbClr val="7C3AE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1399032"/>
            <a:ext cx="194767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Token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Probability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6446520" y="1627632"/>
            <a:ext cx="2834640" cy="310896"/>
          </a:xfrm>
          <a:prstGeom prst="roundRect">
            <a:avLst>
              <a:gd name="adj" fmla="val 23529"/>
            </a:avLst>
          </a:prstGeom>
          <a:solidFill>
            <a:srgbClr val="EDE9FE"/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16962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idea: masking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92240" y="2194560"/>
            <a:ext cx="448056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During training, the decoder should not see future words.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mask blocks attention to future positions.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This keeps generation fair: token i only depends on earlier tokens.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Then softmax chooses the next token probability.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92240" y="473659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while predicting word 4, the model cannot look at word 5.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-228600"/>
            <a:ext cx="2011680" cy="2011680"/>
          </a:xfrm>
          <a:prstGeom prst="arc">
            <a:avLst/>
          </a:prstGeom>
          <a:solidFill>
            <a:srgbClr val="CFFAFE">
              <a:alpha val="90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94360" y="5349240"/>
            <a:ext cx="1920240" cy="1920240"/>
          </a:xfrm>
          <a:prstGeom prst="arc">
            <a:avLst/>
          </a:prstGeom>
          <a:solidFill>
            <a:srgbClr val="EDE9FE">
              <a:alpha val="90000"/>
            </a:srgbClr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8813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Attention Intuition: Q, K, V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is like searching for the most useful information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Is All You Need | Easy Presentation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325880"/>
            <a:ext cx="1097280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783080"/>
            <a:ext cx="2514600" cy="640080"/>
          </a:xfrm>
          <a:prstGeom prst="roundRect">
            <a:avLst>
              <a:gd name="adj" fmla="val 12857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1856232"/>
            <a:ext cx="240487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(Q)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606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am I looking for?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0" y="1783080"/>
            <a:ext cx="2514600" cy="640080"/>
          </a:xfrm>
          <a:prstGeom prst="roundRect">
            <a:avLst>
              <a:gd name="adj" fmla="val 12857"/>
            </a:avLst>
          </a:prstGeom>
          <a:solidFill>
            <a:srgbClr val="CCFBF1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856232"/>
            <a:ext cx="240487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(K)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606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information do I contain?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83880" y="1783080"/>
            <a:ext cx="2514600" cy="640080"/>
          </a:xfrm>
          <a:prstGeom prst="roundRect">
            <a:avLst>
              <a:gd name="adj" fmla="val 12857"/>
            </a:avLst>
          </a:prstGeom>
          <a:solidFill>
            <a:srgbClr val="FFEDD5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38744" y="1856232"/>
            <a:ext cx="240487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(V)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83880" y="2606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information will I give?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221992" y="3337560"/>
            <a:ext cx="321868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852160" y="3337560"/>
            <a:ext cx="310896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60120" y="4069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example: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240280" y="40690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word asks a question (Q), compares it with all labels (K), then collects useful answers (V) as a weighted sum.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240280" y="48920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similarity between Q and K means higher attention weight.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-228600"/>
            <a:ext cx="2011680" cy="2011680"/>
          </a:xfrm>
          <a:prstGeom prst="arc">
            <a:avLst/>
          </a:prstGeom>
          <a:solidFill>
            <a:srgbClr val="CFFAFE">
              <a:alpha val="90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94360" y="5349240"/>
            <a:ext cx="1920240" cy="1920240"/>
          </a:xfrm>
          <a:prstGeom prst="arc">
            <a:avLst/>
          </a:prstGeom>
          <a:solidFill>
            <a:srgbClr val="EDE9FE">
              <a:alpha val="90000"/>
            </a:srgbClr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8813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Scaled Dot-Product Attention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main attention formula used in the paper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Is All You Need | Easy Presentation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325880"/>
            <a:ext cx="507492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/mnt/data/attn_assets/figure2_atten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00200"/>
            <a:ext cx="4663440" cy="2606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42519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figure: Vaswani et al. (2017)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35040" y="1325880"/>
            <a:ext cx="544068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2512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382512" y="208483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Attention(Q, K, V) = softmax(QKᵀ / √dₖ) V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00800" y="2971800"/>
            <a:ext cx="443484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Compare Q with K using dot product.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Scale by √dₖ to keep numbers stable.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Apply softmax to get attention weights.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Multiply weights with V to get the output.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00800" y="51206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scale? Without scaling, softmax can become too sharp and gradients can become tiny.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-228600"/>
            <a:ext cx="2011680" cy="2011680"/>
          </a:xfrm>
          <a:prstGeom prst="arc">
            <a:avLst/>
          </a:prstGeom>
          <a:solidFill>
            <a:srgbClr val="CFFAFE">
              <a:alpha val="90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94360" y="5349240"/>
            <a:ext cx="1920240" cy="1920240"/>
          </a:xfrm>
          <a:prstGeom prst="arc">
            <a:avLst/>
          </a:prstGeom>
          <a:solidFill>
            <a:srgbClr val="EDE9FE">
              <a:alpha val="90000"/>
            </a:srgbClr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8813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Multi-Head Attention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attention heads learn different relationships at the same time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Is All You Need | Easy Presentation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325880"/>
            <a:ext cx="1097280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916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attention head is one viewpoint.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12140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heads = multiple viewpoints in parallel.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1600200" cy="502920"/>
          </a:xfrm>
          <a:prstGeom prst="roundRect">
            <a:avLst>
              <a:gd name="adj" fmla="val 16364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3090672"/>
            <a:ext cx="149047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 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37033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meaning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719072" y="4160520"/>
            <a:ext cx="7242048" cy="5029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926080" y="3017520"/>
            <a:ext cx="1600200" cy="502920"/>
          </a:xfrm>
          <a:prstGeom prst="roundRect">
            <a:avLst>
              <a:gd name="adj" fmla="val 16364"/>
            </a:avLst>
          </a:prstGeom>
          <a:solidFill>
            <a:srgbClr val="CCFBF1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80944" y="3090672"/>
            <a:ext cx="149047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 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926080" y="37033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grammar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730752" y="4160520"/>
            <a:ext cx="5230368" cy="50292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37760" y="3017520"/>
            <a:ext cx="1600200" cy="502920"/>
          </a:xfrm>
          <a:prstGeom prst="roundRect">
            <a:avLst>
              <a:gd name="adj" fmla="val 16364"/>
            </a:avLst>
          </a:prstGeom>
          <a:solidFill>
            <a:srgbClr val="FFEDD5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92624" y="3090672"/>
            <a:ext cx="149047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 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937760" y="37033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link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742432" y="4160520"/>
            <a:ext cx="3218688" cy="50292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949440" y="3017520"/>
            <a:ext cx="1600200" cy="502920"/>
          </a:xfrm>
          <a:prstGeom prst="roundRect">
            <a:avLst>
              <a:gd name="adj" fmla="val 16364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04304" y="3090672"/>
            <a:ext cx="149047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 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949440" y="37033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754112" y="4160520"/>
            <a:ext cx="1207008" cy="5029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732520" y="4315968"/>
            <a:ext cx="2103120" cy="731520"/>
          </a:xfrm>
          <a:prstGeom prst="roundRect">
            <a:avLst>
              <a:gd name="adj" fmla="val 11250"/>
            </a:avLst>
          </a:prstGeom>
          <a:solidFill>
            <a:srgbClr val="0B122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87384" y="4389120"/>
            <a:ext cx="199339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Concatenate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Linear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818120" y="1645920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09560" y="171450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setting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818120" y="2176272"/>
            <a:ext cx="333756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 model uses 8 heads.</a:t>
            </a:r>
            <a:endParaRPr lang="en-US" sz="14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Each head uses smaller dimensions.</a:t>
            </a:r>
            <a:endParaRPr lang="en-US" sz="14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cost stays similar to one large attention head.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-228600"/>
            <a:ext cx="2011680" cy="2011680"/>
          </a:xfrm>
          <a:prstGeom prst="arc">
            <a:avLst/>
          </a:prstGeom>
          <a:solidFill>
            <a:srgbClr val="CFFAFE">
              <a:alpha val="90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94360" y="5349240"/>
            <a:ext cx="1920240" cy="1920240"/>
          </a:xfrm>
          <a:prstGeom prst="arc">
            <a:avLst/>
          </a:prstGeom>
          <a:solidFill>
            <a:srgbClr val="EDE9FE">
              <a:alpha val="90000"/>
            </a:srgbClr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8813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Positional Encoding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alone does not know word order, so position is added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Is All You Need | Easy Presentation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325880"/>
            <a:ext cx="1097280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642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28800" y="1664208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Self-attention sees all tokens together, so it needs extra information about order.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2743200"/>
            <a:ext cx="2194560" cy="594360"/>
          </a:xfrm>
          <a:prstGeom prst="roundRect">
            <a:avLst>
              <a:gd name="adj" fmla="val 1384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2816352"/>
            <a:ext cx="208483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embedding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2816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755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114800" y="2743200"/>
            <a:ext cx="2468880" cy="594360"/>
          </a:xfrm>
          <a:prstGeom prst="roundRect">
            <a:avLst>
              <a:gd name="adj" fmla="val 13846"/>
            </a:avLst>
          </a:prstGeom>
          <a:solidFill>
            <a:srgbClr val="CCFBF1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9664" y="2816352"/>
            <a:ext cx="235915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Positional encoding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12280" y="2816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755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=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315200" y="2743200"/>
            <a:ext cx="2651760" cy="594360"/>
          </a:xfrm>
          <a:prstGeom prst="roundRect">
            <a:avLst>
              <a:gd name="adj" fmla="val 13846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70064" y="2816352"/>
            <a:ext cx="254203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to Transformer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977640"/>
            <a:ext cx="98755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paper uses sine and cosine functions of different frequencies.</a:t>
            </a:r>
            <a:endParaRPr lang="en-US" sz="14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This gives each token position a unique pattern.</a:t>
            </a:r>
            <a:endParaRPr lang="en-US" sz="14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model can learn relative positions such as “next word” or “two words before”.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051560" y="52120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line: positional encoding tells the model where each word is located.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-228600"/>
            <a:ext cx="2011680" cy="2011680"/>
          </a:xfrm>
          <a:prstGeom prst="arc">
            <a:avLst/>
          </a:prstGeom>
          <a:solidFill>
            <a:srgbClr val="CFFAFE">
              <a:alpha val="90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94360" y="5349240"/>
            <a:ext cx="1920240" cy="1920240"/>
          </a:xfrm>
          <a:prstGeom prst="arc">
            <a:avLst/>
          </a:prstGeom>
          <a:solidFill>
            <a:srgbClr val="EDE9FE">
              <a:alpha val="90000"/>
            </a:srgbClr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8813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Self-Attention Works Well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advantages compared with RNN/CNN sequence models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Is All You Need | Easy Presentation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08760"/>
            <a:ext cx="3246120" cy="42062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78308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1856232"/>
            <a:ext cx="39319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181051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Parallel training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74320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positions can be processed together, so training is faster.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526280" y="1508760"/>
            <a:ext cx="3246120" cy="42062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78308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CCFBF1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1856232"/>
            <a:ext cx="39319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94960" y="181051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Short path length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274320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word can directly connect to any other word in one attention layer.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275320" y="1508760"/>
            <a:ext cx="3246120" cy="42062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178308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58784" y="1856232"/>
            <a:ext cx="39319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0" y="181051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Interpretability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95360" y="274320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maps can show which words the model focuses on.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14400" y="6016752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 also compares complexity and path length to recurrent and convolutional layers.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-228600"/>
            <a:ext cx="2011680" cy="2011680"/>
          </a:xfrm>
          <a:prstGeom prst="arc">
            <a:avLst/>
          </a:prstGeom>
          <a:solidFill>
            <a:srgbClr val="CFFAFE">
              <a:alpha val="90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94360" y="5349240"/>
            <a:ext cx="1920240" cy="1920240"/>
          </a:xfrm>
          <a:prstGeom prst="arc">
            <a:avLst/>
          </a:prstGeom>
          <a:solidFill>
            <a:srgbClr val="EDE9FE">
              <a:alpha val="90000"/>
            </a:srgbClr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8813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Setup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authors trained the Transformer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Is All You Need | Easy Presentation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72768"/>
            <a:ext cx="534924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572768"/>
            <a:ext cx="525780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1234440"/>
            <a:ext cx="2468880" cy="310896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3030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37960" y="1234440"/>
            <a:ext cx="2697480" cy="310896"/>
          </a:xfrm>
          <a:prstGeom prst="roundRect">
            <a:avLst>
              <a:gd name="adj" fmla="val 23529"/>
            </a:avLst>
          </a:prstGeom>
          <a:solidFill>
            <a:srgbClr val="CCFBF1"/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303020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24128" y="1874520"/>
            <a:ext cx="466344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WMT 2014 English-German: about 4.5M sentence pairs.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WMT 2014 English-French: about 36M sentence pairs.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Subword tokenization was used to handle rare words.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01968" y="1874520"/>
            <a:ext cx="457200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Trained on 8 NVIDIA P100 GPUs.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 model: 100,000 steps, about 12 hours.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Big model: 300,000 steps, about 3.5 days.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Used Adam optimizer, dropout, and label smoothing.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5779008"/>
            <a:ext cx="9875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the paper shows strong results with much lower training cost than many previous models.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-228600"/>
            <a:ext cx="2011680" cy="2011680"/>
          </a:xfrm>
          <a:prstGeom prst="arc">
            <a:avLst/>
          </a:prstGeom>
          <a:solidFill>
            <a:srgbClr val="CFFAFE">
              <a:alpha val="90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94360" y="5349240"/>
            <a:ext cx="1920240" cy="1920240"/>
          </a:xfrm>
          <a:prstGeom prst="arc">
            <a:avLst/>
          </a:prstGeom>
          <a:solidFill>
            <a:srgbClr val="EDE9FE">
              <a:alpha val="90000"/>
            </a:srgbClr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8813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achieved strong translation performance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Is All You Need | Easy Presentation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17320"/>
            <a:ext cx="107442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828800"/>
            <a:ext cx="2468880" cy="502920"/>
          </a:xfrm>
          <a:prstGeom prst="roundRect">
            <a:avLst>
              <a:gd name="adj" fmla="val 16364"/>
            </a:avLst>
          </a:prstGeom>
          <a:solidFill>
            <a:srgbClr val="0B122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1901952"/>
            <a:ext cx="235915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29000" y="1828800"/>
            <a:ext cx="1828800" cy="502920"/>
          </a:xfrm>
          <a:prstGeom prst="roundRect">
            <a:avLst>
              <a:gd name="adj" fmla="val 16364"/>
            </a:avLst>
          </a:prstGeom>
          <a:solidFill>
            <a:srgbClr val="0B122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3864" y="1901952"/>
            <a:ext cx="171907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EN-DE BLEU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257800" y="1828800"/>
            <a:ext cx="1828800" cy="502920"/>
          </a:xfrm>
          <a:prstGeom prst="roundRect">
            <a:avLst>
              <a:gd name="adj" fmla="val 16364"/>
            </a:avLst>
          </a:prstGeom>
          <a:solidFill>
            <a:srgbClr val="0B122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12664" y="1901952"/>
            <a:ext cx="171907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EN-FR BLEU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86600" y="1828800"/>
            <a:ext cx="4663440" cy="502920"/>
          </a:xfrm>
          <a:prstGeom prst="roundRect">
            <a:avLst>
              <a:gd name="adj" fmla="val 16364"/>
            </a:avLst>
          </a:prstGeom>
          <a:solidFill>
            <a:srgbClr val="0B122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41464" y="1901952"/>
            <a:ext cx="455371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meaning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60120" y="2468880"/>
            <a:ext cx="246888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4984" y="2542032"/>
            <a:ext cx="235915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base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3429000" y="2468880"/>
            <a:ext cx="182880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5240">
            <a:solidFill>
              <a:srgbClr val="4755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83864" y="2542032"/>
            <a:ext cx="171907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27.3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5257800" y="2468880"/>
            <a:ext cx="182880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5240">
            <a:solidFill>
              <a:srgbClr val="4755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12664" y="2542032"/>
            <a:ext cx="171907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38.1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7086600" y="2468880"/>
            <a:ext cx="466344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5240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41464" y="2542032"/>
            <a:ext cx="455371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even with lower cost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960120" y="3108960"/>
            <a:ext cx="2468880" cy="502920"/>
          </a:xfrm>
          <a:prstGeom prst="roundRect">
            <a:avLst>
              <a:gd name="adj" fmla="val 16364"/>
            </a:avLst>
          </a:prstGeom>
          <a:solidFill>
            <a:srgbClr val="DCFCE7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4984" y="3182112"/>
            <a:ext cx="235915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big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3429000" y="3108960"/>
            <a:ext cx="1828800" cy="502920"/>
          </a:xfrm>
          <a:prstGeom prst="roundRect">
            <a:avLst>
              <a:gd name="adj" fmla="val 16364"/>
            </a:avLst>
          </a:prstGeom>
          <a:solidFill>
            <a:srgbClr val="DCFCE7"/>
          </a:solidFill>
          <a:ln w="15240">
            <a:solidFill>
              <a:srgbClr val="4755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83864" y="3182112"/>
            <a:ext cx="171907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28.4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5257800" y="3108960"/>
            <a:ext cx="1828800" cy="502920"/>
          </a:xfrm>
          <a:prstGeom prst="roundRect">
            <a:avLst>
              <a:gd name="adj" fmla="val 16364"/>
            </a:avLst>
          </a:prstGeom>
          <a:solidFill>
            <a:srgbClr val="DCFCE7"/>
          </a:solidFill>
          <a:ln w="15240">
            <a:solidFill>
              <a:srgbClr val="4755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12664" y="3182112"/>
            <a:ext cx="171907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41.8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7086600" y="3108960"/>
            <a:ext cx="4663440" cy="502920"/>
          </a:xfrm>
          <a:prstGeom prst="roundRect">
            <a:avLst>
              <a:gd name="adj" fmla="val 16364"/>
            </a:avLst>
          </a:prstGeom>
          <a:solidFill>
            <a:srgbClr val="DCFCE7"/>
          </a:solidFill>
          <a:ln w="15240">
            <a:solidFill>
              <a:srgbClr val="4755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41464" y="3182112"/>
            <a:ext cx="455371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results reported in the paper</a:t>
            </a:r>
            <a:endParaRPr lang="en-US" sz="1220" dirty="0"/>
          </a:p>
        </p:txBody>
      </p:sp>
      <p:sp>
        <p:nvSpPr>
          <p:cNvPr id="34" name="Shape 32"/>
          <p:cNvSpPr/>
          <p:nvPr/>
        </p:nvSpPr>
        <p:spPr>
          <a:xfrm>
            <a:off x="960120" y="3749040"/>
            <a:ext cx="246888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5240">
            <a:solidFill>
              <a:srgbClr val="0B12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4984" y="3822192"/>
            <a:ext cx="235915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strong models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3429000" y="3749040"/>
            <a:ext cx="182880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5240">
            <a:solidFill>
              <a:srgbClr val="4755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83864" y="3822192"/>
            <a:ext cx="171907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≈24–26</a:t>
            </a:r>
            <a:endParaRPr lang="en-US" sz="1220" dirty="0"/>
          </a:p>
        </p:txBody>
      </p:sp>
      <p:sp>
        <p:nvSpPr>
          <p:cNvPr id="38" name="Shape 36"/>
          <p:cNvSpPr/>
          <p:nvPr/>
        </p:nvSpPr>
        <p:spPr>
          <a:xfrm>
            <a:off x="5257800" y="3749040"/>
            <a:ext cx="182880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5240">
            <a:solidFill>
              <a:srgbClr val="4755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12664" y="3822192"/>
            <a:ext cx="171907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≈39–41</a:t>
            </a:r>
            <a:endParaRPr lang="en-US" sz="1220" dirty="0"/>
          </a:p>
        </p:txBody>
      </p:sp>
      <p:sp>
        <p:nvSpPr>
          <p:cNvPr id="40" name="Shape 38"/>
          <p:cNvSpPr/>
          <p:nvPr/>
        </p:nvSpPr>
        <p:spPr>
          <a:xfrm>
            <a:off x="7086600" y="3749040"/>
            <a:ext cx="466344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5240">
            <a:solidFill>
              <a:srgbClr val="4755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41464" y="3822192"/>
            <a:ext cx="455371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slower or costlier</a:t>
            </a:r>
            <a:endParaRPr lang="en-US" sz="1220" dirty="0"/>
          </a:p>
        </p:txBody>
      </p:sp>
      <p:sp>
        <p:nvSpPr>
          <p:cNvPr id="42" name="Text 40"/>
          <p:cNvSpPr/>
          <p:nvPr/>
        </p:nvSpPr>
        <p:spPr>
          <a:xfrm>
            <a:off x="960120" y="4572000"/>
            <a:ext cx="100126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4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BLEU is an automatic metric for machine translation quality.</a:t>
            </a:r>
            <a:endParaRPr lang="en-US" sz="14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Higher BLEU means the translation is closer to reference translations.</a:t>
            </a:r>
            <a:endParaRPr lang="en-US" sz="14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big Transformer outperformed earlier models on English-German and English-French translation.</a:t>
            </a:r>
            <a:endParaRPr lang="en-US" sz="1420" dirty="0"/>
          </a:p>
        </p:txBody>
      </p:sp>
      <p:sp>
        <p:nvSpPr>
          <p:cNvPr id="43" name="Text 41"/>
          <p:cNvSpPr/>
          <p:nvPr/>
        </p:nvSpPr>
        <p:spPr>
          <a:xfrm>
            <a:off x="960120" y="5650992"/>
            <a:ext cx="10012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summarized from Table 2 of the paper.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-228600"/>
            <a:ext cx="2011680" cy="2011680"/>
          </a:xfrm>
          <a:prstGeom prst="arc">
            <a:avLst/>
          </a:prstGeom>
          <a:solidFill>
            <a:srgbClr val="CFFAFE">
              <a:alpha val="90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94360" y="5349240"/>
            <a:ext cx="1920240" cy="1920240"/>
          </a:xfrm>
          <a:prstGeom prst="arc">
            <a:avLst/>
          </a:prstGeom>
          <a:solidFill>
            <a:srgbClr val="EDE9FE">
              <a:alpha val="90000"/>
            </a:srgbClr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8813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Viva Questions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answers you can say in presentation or Q&amp;A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Is All You Need | Easy Presentation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325880"/>
            <a:ext cx="10972800" cy="48006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2763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Q1: Why is the paper called “Attention Is All You Need”?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5715000" y="1600200"/>
            <a:ext cx="5257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the model replaces recurrence and convolution with attention mechanisms.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960120" y="2130552"/>
            <a:ext cx="10012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43230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Q2: What is self-attention?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5715000" y="2404872"/>
            <a:ext cx="5257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token attends to other tokens in the same sequence to build its representation.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960120" y="2935224"/>
            <a:ext cx="10012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2369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Q3: Why use multi-head attention?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5715000" y="3209544"/>
            <a:ext cx="5257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heads can learn different relationships at different positions.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960120" y="3739896"/>
            <a:ext cx="10012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04164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Q4: Why positional encoding?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5715000" y="4014216"/>
            <a:ext cx="5257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needs position information because attention itself has no order.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960120" y="4544568"/>
            <a:ext cx="10012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846320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Q5: What is the main achievement?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5715000" y="4818888"/>
            <a:ext cx="5257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training and better translation results than previous strong sequence models.</a:t>
            </a:r>
            <a:endParaRPr lang="en-US" sz="12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-228600"/>
            <a:ext cx="2011680" cy="2011680"/>
          </a:xfrm>
          <a:prstGeom prst="arc">
            <a:avLst/>
          </a:prstGeom>
          <a:solidFill>
            <a:srgbClr val="CFFAFE">
              <a:alpha val="90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94360" y="5349240"/>
            <a:ext cx="1920240" cy="1920240"/>
          </a:xfrm>
          <a:prstGeom prst="arc">
            <a:avLst/>
          </a:prstGeom>
          <a:solidFill>
            <a:srgbClr val="EDE9FE">
              <a:alpha val="90000"/>
            </a:srgbClr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8813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Takeaways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Remember these five points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Is All You Need | Easy Presentation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325880"/>
            <a:ext cx="10287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1783080"/>
            <a:ext cx="932688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Transformer is an encoder-decoder model for sequence tasks.</a:t>
            </a:r>
            <a:endParaRPr lang="en-US" sz="1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It removes RNNs and CNNs from the main architecture.</a:t>
            </a:r>
            <a:endParaRPr lang="en-US" sz="1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Self-attention lets every token directly look at every other token.</a:t>
            </a:r>
            <a:endParaRPr lang="en-US" sz="1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Multi-head attention learns several relationships in parallel.</a:t>
            </a:r>
            <a:endParaRPr lang="en-US" sz="1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The paper achieved strong translation results with faster training.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530352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One-line conclusion: attention made sequence modeling faster, more flexible, and very powerful.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-228600"/>
            <a:ext cx="2011680" cy="2011680"/>
          </a:xfrm>
          <a:prstGeom prst="arc">
            <a:avLst/>
          </a:prstGeom>
          <a:solidFill>
            <a:srgbClr val="CFFAFE">
              <a:alpha val="90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94360" y="5349240"/>
            <a:ext cx="1920240" cy="1920240"/>
          </a:xfrm>
          <a:prstGeom prst="arc">
            <a:avLst/>
          </a:prstGeom>
          <a:solidFill>
            <a:srgbClr val="EDE9FE">
              <a:alpha val="90000"/>
            </a:srgbClr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8813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used for this presentation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Is All You Need | Easy Presentation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508760"/>
            <a:ext cx="102870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182880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Vaswani, A., Shazeer, N., Parmar, N., Uszkoreit, J., Jones, L., Gomez, A. N., Kaiser, L., &amp; Polosukhin, I. (2017).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234440" y="242316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Attention Is All You Need. Advances in Neural Information Processing Systems (NIPS/NeurIPS).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3246120"/>
            <a:ext cx="90982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4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Figures in this deck are reproduced from the paper for scholarly presentation with attribution.</a:t>
            </a:r>
            <a:endParaRPr lang="en-US" sz="14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paper ideas summarized in simple English for class presentation.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1234440" y="46177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 Is All You Need - Easy Presentation</dc:title>
  <dc:subject>Easy presentation on Attention Is All You Need</dc:subject>
  <dc:creator>OpenAI</dc:creator>
  <cp:lastModifiedBy>OpenAI</cp:lastModifiedBy>
  <cp:revision>1</cp:revision>
  <dcterms:created xsi:type="dcterms:W3CDTF">2026-07-08T04:08:03Z</dcterms:created>
  <dcterms:modified xsi:type="dcterms:W3CDTF">2026-07-08T04:08:03Z</dcterms:modified>
</cp:coreProperties>
</file>